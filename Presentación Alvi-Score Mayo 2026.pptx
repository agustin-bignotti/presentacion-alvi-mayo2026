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10287000" cx="18288000"/>
  <p:notesSz cx="6858000" cy="9144000"/>
  <p:embeddedFontLst>
    <p:embeddedFont>
      <p:font typeface="Bebas Neue"/>
      <p:regular r:id="rId16"/>
    </p:embeddedFont>
    <p:embeddedFont>
      <p:font typeface="Monda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hiSQncMidW0YAPtNIGNo3JHgJZ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onda-regular.fntdata"/><Relationship Id="rId16" Type="http://schemas.openxmlformats.org/officeDocument/2006/relationships/font" Target="fonts/BebasNeue-regular.fntdata"/><Relationship Id="rId5" Type="http://schemas.openxmlformats.org/officeDocument/2006/relationships/slideMaster" Target="slideMasters/slideMaster2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da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15c3fefbf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e15c3fefbf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g3e15c3fefbf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63aaf4e92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b63aaf4e92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g3b63aaf4e92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7a033a560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97a033a560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g397a033a560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7a033a560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97a033a560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397a033a560_0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15c3fefbf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e15c3fefbf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g3e15c3fefbf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15e96ea9d_0_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e15e96ea9d_0_1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e15e96ea9d_0_1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15e96ea9d_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e15e96ea9d_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e15e96ea9d_0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15c3fefbf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e15c3fefbf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g3e15c3fefbf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2"/>
          <p:cNvSpPr txBox="1"/>
          <p:nvPr>
            <p:ph type="ctrTitle"/>
          </p:nvPr>
        </p:nvSpPr>
        <p:spPr>
          <a:xfrm>
            <a:off x="1371600" y="3195640"/>
            <a:ext cx="15544800" cy="2205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2"/>
          <p:cNvSpPr txBox="1"/>
          <p:nvPr>
            <p:ph idx="1" type="subTitle"/>
          </p:nvPr>
        </p:nvSpPr>
        <p:spPr>
          <a:xfrm>
            <a:off x="2743200" y="5829300"/>
            <a:ext cx="128016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888888"/>
              </a:buClr>
              <a:buSzPts val="48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888888"/>
              </a:buClr>
              <a:buSzPts val="42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32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2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2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3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3"/>
          <p:cNvSpPr txBox="1"/>
          <p:nvPr>
            <p:ph idx="1" type="body"/>
          </p:nvPr>
        </p:nvSpPr>
        <p:spPr>
          <a:xfrm>
            <a:off x="914400" y="2400302"/>
            <a:ext cx="16459200" cy="6788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33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3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3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4"/>
          <p:cNvSpPr txBox="1"/>
          <p:nvPr>
            <p:ph type="title"/>
          </p:nvPr>
        </p:nvSpPr>
        <p:spPr>
          <a:xfrm>
            <a:off x="1444626" y="6610352"/>
            <a:ext cx="15544800" cy="204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1" sz="6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4"/>
          <p:cNvSpPr txBox="1"/>
          <p:nvPr>
            <p:ph idx="1" type="body"/>
          </p:nvPr>
        </p:nvSpPr>
        <p:spPr>
          <a:xfrm>
            <a:off x="1444626" y="4360070"/>
            <a:ext cx="155448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p34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4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4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5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5"/>
          <p:cNvSpPr txBox="1"/>
          <p:nvPr>
            <p:ph idx="1" type="body"/>
          </p:nvPr>
        </p:nvSpPr>
        <p:spPr>
          <a:xfrm>
            <a:off x="914400" y="2400302"/>
            <a:ext cx="8077200" cy="6788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5300" lvl="0" marL="4572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1pPr>
            <a:lvl2pPr indent="-457200" lvl="1" marL="91440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2pPr>
            <a:lvl3pPr indent="-4191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3pPr>
            <a:lvl4pPr indent="-400050" lvl="3" marL="18288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indent="-400050" lvl="4" marL="22860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indent="-400050" lvl="5" marL="27432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indent="-400050" lvl="6" marL="32004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indent="-400050" lvl="7" marL="36576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indent="-400050" lvl="8" marL="41148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/>
        </p:txBody>
      </p:sp>
      <p:sp>
        <p:nvSpPr>
          <p:cNvPr id="115" name="Google Shape;115;p35"/>
          <p:cNvSpPr txBox="1"/>
          <p:nvPr>
            <p:ph idx="2" type="body"/>
          </p:nvPr>
        </p:nvSpPr>
        <p:spPr>
          <a:xfrm>
            <a:off x="9296400" y="2400302"/>
            <a:ext cx="8077200" cy="6788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5300" lvl="0" marL="4572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1pPr>
            <a:lvl2pPr indent="-457200" lvl="1" marL="91440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2pPr>
            <a:lvl3pPr indent="-4191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3pPr>
            <a:lvl4pPr indent="-400050" lvl="3" marL="18288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indent="-400050" lvl="4" marL="22860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indent="-400050" lvl="5" marL="27432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indent="-400050" lvl="6" marL="32004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indent="-400050" lvl="7" marL="36576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indent="-400050" lvl="8" marL="41148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/>
        </p:txBody>
      </p:sp>
      <p:sp>
        <p:nvSpPr>
          <p:cNvPr id="116" name="Google Shape;116;p35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5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5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6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6"/>
          <p:cNvSpPr txBox="1"/>
          <p:nvPr>
            <p:ph idx="1" type="body"/>
          </p:nvPr>
        </p:nvSpPr>
        <p:spPr>
          <a:xfrm>
            <a:off x="914401" y="2302670"/>
            <a:ext cx="8080376" cy="9596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3pPr>
            <a:lvl4pPr indent="-228600" lvl="3" marL="1828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122" name="Google Shape;122;p36"/>
          <p:cNvSpPr txBox="1"/>
          <p:nvPr>
            <p:ph idx="2" type="body"/>
          </p:nvPr>
        </p:nvSpPr>
        <p:spPr>
          <a:xfrm>
            <a:off x="914401" y="3262313"/>
            <a:ext cx="8080376" cy="5926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1pPr>
            <a:lvl2pPr indent="-4191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indent="-400050" lvl="2" marL="13716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123" name="Google Shape;123;p36"/>
          <p:cNvSpPr txBox="1"/>
          <p:nvPr>
            <p:ph idx="3" type="body"/>
          </p:nvPr>
        </p:nvSpPr>
        <p:spPr>
          <a:xfrm>
            <a:off x="9290053" y="2302670"/>
            <a:ext cx="8083550" cy="9596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3pPr>
            <a:lvl4pPr indent="-228600" lvl="3" marL="1828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124" name="Google Shape;124;p36"/>
          <p:cNvSpPr txBox="1"/>
          <p:nvPr>
            <p:ph idx="4" type="body"/>
          </p:nvPr>
        </p:nvSpPr>
        <p:spPr>
          <a:xfrm>
            <a:off x="9290053" y="3262313"/>
            <a:ext cx="8083550" cy="5926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1pPr>
            <a:lvl2pPr indent="-4191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indent="-400050" lvl="2" marL="13716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125" name="Google Shape;125;p36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6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6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7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7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7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7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8"/>
          <p:cNvSpPr txBox="1"/>
          <p:nvPr>
            <p:ph type="title"/>
          </p:nvPr>
        </p:nvSpPr>
        <p:spPr>
          <a:xfrm>
            <a:off x="914402" y="409575"/>
            <a:ext cx="6016626" cy="1743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8"/>
          <p:cNvSpPr txBox="1"/>
          <p:nvPr>
            <p:ph idx="1" type="body"/>
          </p:nvPr>
        </p:nvSpPr>
        <p:spPr>
          <a:xfrm>
            <a:off x="7150100" y="409577"/>
            <a:ext cx="10223501" cy="8779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33400" lvl="0" marL="45720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1pPr>
            <a:lvl2pPr indent="-495300" lvl="1" marL="9144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–"/>
              <a:defRPr sz="4200"/>
            </a:lvl2pPr>
            <a:lvl3pPr indent="-457200" lvl="2" marL="137160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indent="-4191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4pPr>
            <a:lvl5pPr indent="-4191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»"/>
              <a:defRPr sz="3000"/>
            </a:lvl5pPr>
            <a:lvl6pPr indent="-4191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6pPr>
            <a:lvl7pPr indent="-4191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7pPr>
            <a:lvl8pPr indent="-4191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8pPr>
            <a:lvl9pPr indent="-4191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9pPr>
          </a:lstStyle>
          <a:p/>
        </p:txBody>
      </p:sp>
      <p:sp>
        <p:nvSpPr>
          <p:cNvPr id="136" name="Google Shape;136;p38"/>
          <p:cNvSpPr txBox="1"/>
          <p:nvPr>
            <p:ph idx="2" type="body"/>
          </p:nvPr>
        </p:nvSpPr>
        <p:spPr>
          <a:xfrm>
            <a:off x="914402" y="2152652"/>
            <a:ext cx="6016626" cy="7036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3pPr>
            <a:lvl4pPr indent="-228600" lvl="3" marL="18288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4pPr>
            <a:lvl5pPr indent="-228600" lvl="4" marL="22860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5pPr>
            <a:lvl6pPr indent="-228600" lvl="5" marL="2743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6pPr>
            <a:lvl7pPr indent="-228600" lvl="6" marL="32004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7pPr>
            <a:lvl8pPr indent="-228600" lvl="7" marL="3657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8pPr>
            <a:lvl9pPr indent="-228600" lvl="8" marL="41148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9pPr>
          </a:lstStyle>
          <a:p/>
        </p:txBody>
      </p:sp>
      <p:sp>
        <p:nvSpPr>
          <p:cNvPr id="137" name="Google Shape;137;p38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8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8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9"/>
          <p:cNvSpPr txBox="1"/>
          <p:nvPr>
            <p:ph type="title"/>
          </p:nvPr>
        </p:nvSpPr>
        <p:spPr>
          <a:xfrm>
            <a:off x="3584576" y="7200900"/>
            <a:ext cx="10972800" cy="8501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9"/>
          <p:cNvSpPr/>
          <p:nvPr>
            <p:ph idx="2" type="pic"/>
          </p:nvPr>
        </p:nvSpPr>
        <p:spPr>
          <a:xfrm>
            <a:off x="3584576" y="919163"/>
            <a:ext cx="10972800" cy="61722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9"/>
          <p:cNvSpPr txBox="1"/>
          <p:nvPr>
            <p:ph idx="1" type="body"/>
          </p:nvPr>
        </p:nvSpPr>
        <p:spPr>
          <a:xfrm>
            <a:off x="3584576" y="8051007"/>
            <a:ext cx="10972800" cy="12072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3pPr>
            <a:lvl4pPr indent="-228600" lvl="3" marL="18288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4pPr>
            <a:lvl5pPr indent="-228600" lvl="4" marL="22860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5pPr>
            <a:lvl6pPr indent="-228600" lvl="5" marL="2743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6pPr>
            <a:lvl7pPr indent="-228600" lvl="6" marL="32004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7pPr>
            <a:lvl8pPr indent="-228600" lvl="7" marL="3657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8pPr>
            <a:lvl9pPr indent="-228600" lvl="8" marL="41148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9pPr>
          </a:lstStyle>
          <a:p/>
        </p:txBody>
      </p:sp>
      <p:sp>
        <p:nvSpPr>
          <p:cNvPr id="144" name="Google Shape;144;p39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9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9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0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40"/>
          <p:cNvSpPr txBox="1"/>
          <p:nvPr>
            <p:ph idx="1" type="body"/>
          </p:nvPr>
        </p:nvSpPr>
        <p:spPr>
          <a:xfrm rot="5400000">
            <a:off x="5749528" y="-2434826"/>
            <a:ext cx="6788945" cy="164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40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40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40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1"/>
          <p:cNvSpPr txBox="1"/>
          <p:nvPr>
            <p:ph type="title"/>
          </p:nvPr>
        </p:nvSpPr>
        <p:spPr>
          <a:xfrm rot="5400000">
            <a:off x="10927556" y="2743203"/>
            <a:ext cx="8777288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41"/>
          <p:cNvSpPr txBox="1"/>
          <p:nvPr>
            <p:ph idx="1" type="body"/>
          </p:nvPr>
        </p:nvSpPr>
        <p:spPr>
          <a:xfrm rot="5400000">
            <a:off x="2545556" y="-1219197"/>
            <a:ext cx="8777288" cy="120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41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41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41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 b="0" i="0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20"/>
          <p:cNvSpPr txBox="1"/>
          <p:nvPr>
            <p:ph idx="1" type="body"/>
          </p:nvPr>
        </p:nvSpPr>
        <p:spPr>
          <a:xfrm>
            <a:off x="914400" y="2400302"/>
            <a:ext cx="16459200" cy="6788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33400" lvl="0" marL="45720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95300" lvl="1" marL="9144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–"/>
              <a:defRPr b="0" i="0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57200" lvl="2" marL="13716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191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191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191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191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191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191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20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20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hyperlink" Target="http://drive.google.com/file/d/1vT0gna4LicdHKink39yqa5ZGFAxeIBVN/view" TargetMode="External"/><Relationship Id="rId5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jGtayLWR-FNYOrA_nPVBLUYOvyAi4463/view" TargetMode="External"/><Relationship Id="rId4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Relationship Id="rId4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hyperlink" Target="http://drive.google.com/file/d/1vT0gna4LicdHKink39yqa5ZGFAxeIBVN/view" TargetMode="External"/><Relationship Id="rId5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90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"/>
          <p:cNvGrpSpPr/>
          <p:nvPr/>
        </p:nvGrpSpPr>
        <p:grpSpPr>
          <a:xfrm>
            <a:off x="16580031" y="9351544"/>
            <a:ext cx="740300" cy="70556"/>
            <a:chOff x="0" y="0"/>
            <a:chExt cx="987066" cy="94074"/>
          </a:xfrm>
        </p:grpSpPr>
        <p:sp>
          <p:nvSpPr>
            <p:cNvPr id="165" name="Google Shape;165;p1"/>
            <p:cNvSpPr/>
            <p:nvPr/>
          </p:nvSpPr>
          <p:spPr>
            <a:xfrm>
              <a:off x="0" y="0"/>
              <a:ext cx="94074" cy="94074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225778" y="0"/>
              <a:ext cx="94074" cy="94074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447638" y="0"/>
              <a:ext cx="94074" cy="94074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670311" y="0"/>
              <a:ext cx="94074" cy="94074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892992" y="0"/>
              <a:ext cx="94074" cy="94074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1"/>
          <p:cNvSpPr/>
          <p:nvPr/>
        </p:nvSpPr>
        <p:spPr>
          <a:xfrm>
            <a:off x="0" y="73549"/>
            <a:ext cx="16285488" cy="10287000"/>
          </a:xfrm>
          <a:custGeom>
            <a:rect b="b" l="l" r="r" t="t"/>
            <a:pathLst>
              <a:path extrusionOk="0" h="10287000" w="16285488">
                <a:moveTo>
                  <a:pt x="0" y="0"/>
                </a:moveTo>
                <a:lnTo>
                  <a:pt x="16285488" y="0"/>
                </a:lnTo>
                <a:lnTo>
                  <a:pt x="1628548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5" l="0" r="0" t="-2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"/>
          <p:cNvSpPr/>
          <p:nvPr/>
        </p:nvSpPr>
        <p:spPr>
          <a:xfrm>
            <a:off x="702135" y="587135"/>
            <a:ext cx="1135839" cy="1135839"/>
          </a:xfrm>
          <a:custGeom>
            <a:rect b="b" l="l" r="r" t="t"/>
            <a:pathLst>
              <a:path extrusionOk="0" h="1135839" w="1135839">
                <a:moveTo>
                  <a:pt x="0" y="0"/>
                </a:moveTo>
                <a:lnTo>
                  <a:pt x="1135839" y="0"/>
                </a:lnTo>
                <a:lnTo>
                  <a:pt x="1135839" y="1135839"/>
                </a:lnTo>
                <a:lnTo>
                  <a:pt x="0" y="11358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"/>
          <p:cNvSpPr txBox="1"/>
          <p:nvPr/>
        </p:nvSpPr>
        <p:spPr>
          <a:xfrm rot="-5400000">
            <a:off x="14196166" y="5017138"/>
            <a:ext cx="5904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b="0" i="0" lang="es-CL" sz="2599" u="none" cap="none" strike="noStrike">
                <a:solidFill>
                  <a:srgbClr val="5E5E5E"/>
                </a:solidFill>
                <a:latin typeface="Bebas Neue"/>
                <a:ea typeface="Bebas Neue"/>
                <a:cs typeface="Bebas Neue"/>
                <a:sym typeface="Bebas Neue"/>
              </a:rPr>
              <a:t>2 0 2 6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5338045" y="8962289"/>
            <a:ext cx="7611910" cy="398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9"/>
              <a:buFont typeface="Arial"/>
              <a:buNone/>
            </a:pPr>
            <a:r>
              <a:rPr b="0" i="0" lang="es-CL" sz="2299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 C O R E   E N E R G Y   D R I N K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"/>
          <p:cNvSpPr txBox="1"/>
          <p:nvPr/>
        </p:nvSpPr>
        <p:spPr>
          <a:xfrm>
            <a:off x="1349477" y="3731951"/>
            <a:ext cx="135864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</a:pPr>
            <a:r>
              <a:rPr b="1" i="0" lang="es-CL" sz="11500" u="none" cap="none" strike="noStrike">
                <a:solidFill>
                  <a:schemeClr val="lt1"/>
                </a:solidFill>
                <a:latin typeface="Monda"/>
                <a:ea typeface="Monda"/>
                <a:cs typeface="Monda"/>
                <a:sym typeface="Monda"/>
              </a:rPr>
              <a:t>SCORE-</a:t>
            </a:r>
            <a:r>
              <a:rPr b="1" lang="es-CL" sz="11500">
                <a:solidFill>
                  <a:schemeClr val="lt1"/>
                </a:solidFill>
                <a:latin typeface="Monda"/>
                <a:ea typeface="Monda"/>
                <a:cs typeface="Monda"/>
                <a:sym typeface="Monda"/>
              </a:rPr>
              <a:t>ALVI</a:t>
            </a:r>
            <a:endParaRPr b="0" i="0" sz="1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grande – Score Energy Drink" id="175" name="Google Shape;17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54759" y="6626650"/>
            <a:ext cx="4879277" cy="3630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15c3fefbf_0_2"/>
          <p:cNvSpPr txBox="1"/>
          <p:nvPr/>
        </p:nvSpPr>
        <p:spPr>
          <a:xfrm>
            <a:off x="2133600" y="538275"/>
            <a:ext cx="12199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lang="es-CL" sz="4500">
                <a:solidFill>
                  <a:schemeClr val="lt1"/>
                </a:solidFill>
              </a:rPr>
              <a:t>MERCADO: TOTAL CHILE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e15c3fefbf_0_2"/>
          <p:cNvSpPr/>
          <p:nvPr/>
        </p:nvSpPr>
        <p:spPr>
          <a:xfrm>
            <a:off x="735101" y="323734"/>
            <a:ext cx="1135839" cy="1135839"/>
          </a:xfrm>
          <a:custGeom>
            <a:rect b="b" l="l" r="r" t="t"/>
            <a:pathLst>
              <a:path extrusionOk="0" h="1135839" w="1135839">
                <a:moveTo>
                  <a:pt x="0" y="0"/>
                </a:moveTo>
                <a:lnTo>
                  <a:pt x="1135839" y="0"/>
                </a:lnTo>
                <a:lnTo>
                  <a:pt x="1135839" y="1135839"/>
                </a:lnTo>
                <a:lnTo>
                  <a:pt x="0" y="11358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e15c3fefbf_0_2"/>
          <p:cNvSpPr txBox="1"/>
          <p:nvPr/>
        </p:nvSpPr>
        <p:spPr>
          <a:xfrm>
            <a:off x="5338045" y="9370005"/>
            <a:ext cx="761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9"/>
              <a:buFont typeface="Arial"/>
              <a:buNone/>
            </a:pPr>
            <a:r>
              <a:rPr b="0" i="0" lang="es-CL" sz="2299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 C O R E   E N E R G Y   D R I N K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" name="Google Shape;184;g3e15c3fefbf_0_2"/>
          <p:cNvGrpSpPr/>
          <p:nvPr/>
        </p:nvGrpSpPr>
        <p:grpSpPr>
          <a:xfrm>
            <a:off x="16580031" y="9126401"/>
            <a:ext cx="741182" cy="71438"/>
            <a:chOff x="0" y="0"/>
            <a:chExt cx="988242" cy="95250"/>
          </a:xfrm>
        </p:grpSpPr>
        <p:sp>
          <p:nvSpPr>
            <p:cNvPr id="185" name="Google Shape;185;g3e15c3fefbf_0_2"/>
            <p:cNvSpPr/>
            <p:nvPr/>
          </p:nvSpPr>
          <p:spPr>
            <a:xfrm>
              <a:off x="0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g3e15c3fefbf_0_2"/>
            <p:cNvSpPr/>
            <p:nvPr/>
          </p:nvSpPr>
          <p:spPr>
            <a:xfrm>
              <a:off x="225778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g3e15c3fefbf_0_2"/>
            <p:cNvSpPr/>
            <p:nvPr/>
          </p:nvSpPr>
          <p:spPr>
            <a:xfrm>
              <a:off x="447638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g3e15c3fefbf_0_2"/>
            <p:cNvSpPr/>
            <p:nvPr/>
          </p:nvSpPr>
          <p:spPr>
            <a:xfrm>
              <a:off x="670311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g3e15c3fefbf_0_2"/>
            <p:cNvSpPr/>
            <p:nvPr/>
          </p:nvSpPr>
          <p:spPr>
            <a:xfrm>
              <a:off x="892992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g3e15c3fefbf_0_2"/>
          <p:cNvSpPr txBox="1"/>
          <p:nvPr/>
        </p:nvSpPr>
        <p:spPr>
          <a:xfrm rot="-5400000">
            <a:off x="14630439" y="5017138"/>
            <a:ext cx="5904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b="0" i="0" lang="es-CL" sz="2599" u="none" cap="none" strike="noStrike">
                <a:solidFill>
                  <a:srgbClr val="5E5E5E"/>
                </a:solidFill>
                <a:latin typeface="Bebas Neue"/>
                <a:ea typeface="Bebas Neue"/>
                <a:cs typeface="Bebas Neue"/>
                <a:sym typeface="Bebas Neue"/>
              </a:rPr>
              <a:t>2 0 2 </a:t>
            </a:r>
            <a:r>
              <a:rPr lang="es-CL" sz="2599">
                <a:solidFill>
                  <a:srgbClr val="5E5E5E"/>
                </a:solidFill>
                <a:latin typeface="Bebas Neue"/>
                <a:ea typeface="Bebas Neue"/>
                <a:cs typeface="Bebas Neue"/>
                <a:sym typeface="Bebas Neue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g3e15c3fefbf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3387" y="1758737"/>
            <a:ext cx="13579625" cy="731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63aaf4e92_0_1"/>
          <p:cNvSpPr txBox="1"/>
          <p:nvPr/>
        </p:nvSpPr>
        <p:spPr>
          <a:xfrm>
            <a:off x="2133600" y="538275"/>
            <a:ext cx="12199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s-CL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1" lang="es-CL" sz="4500">
                <a:solidFill>
                  <a:schemeClr val="lt1"/>
                </a:solidFill>
              </a:rPr>
              <a:t>ULTADOS YTD ($)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b63aaf4e92_0_1"/>
          <p:cNvSpPr/>
          <p:nvPr/>
        </p:nvSpPr>
        <p:spPr>
          <a:xfrm>
            <a:off x="735101" y="323734"/>
            <a:ext cx="1135839" cy="1135839"/>
          </a:xfrm>
          <a:custGeom>
            <a:rect b="b" l="l" r="r" t="t"/>
            <a:pathLst>
              <a:path extrusionOk="0" h="1135839" w="1135839">
                <a:moveTo>
                  <a:pt x="0" y="0"/>
                </a:moveTo>
                <a:lnTo>
                  <a:pt x="1135839" y="0"/>
                </a:lnTo>
                <a:lnTo>
                  <a:pt x="1135839" y="1135839"/>
                </a:lnTo>
                <a:lnTo>
                  <a:pt x="0" y="11358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b63aaf4e92_0_1"/>
          <p:cNvSpPr txBox="1"/>
          <p:nvPr/>
        </p:nvSpPr>
        <p:spPr>
          <a:xfrm>
            <a:off x="5338045" y="9370005"/>
            <a:ext cx="761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9"/>
              <a:buFont typeface="Arial"/>
              <a:buNone/>
            </a:pPr>
            <a:r>
              <a:rPr b="0" i="0" lang="es-CL" sz="2299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 C O R E   E N E R G Y   D R I N K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0" name="Google Shape;200;g3b63aaf4e92_0_1"/>
          <p:cNvGrpSpPr/>
          <p:nvPr/>
        </p:nvGrpSpPr>
        <p:grpSpPr>
          <a:xfrm>
            <a:off x="16580031" y="9126401"/>
            <a:ext cx="741182" cy="71438"/>
            <a:chOff x="0" y="0"/>
            <a:chExt cx="988242" cy="95250"/>
          </a:xfrm>
        </p:grpSpPr>
        <p:sp>
          <p:nvSpPr>
            <p:cNvPr id="201" name="Google Shape;201;g3b63aaf4e92_0_1"/>
            <p:cNvSpPr/>
            <p:nvPr/>
          </p:nvSpPr>
          <p:spPr>
            <a:xfrm>
              <a:off x="0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g3b63aaf4e92_0_1"/>
            <p:cNvSpPr/>
            <p:nvPr/>
          </p:nvSpPr>
          <p:spPr>
            <a:xfrm>
              <a:off x="225778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g3b63aaf4e92_0_1"/>
            <p:cNvSpPr/>
            <p:nvPr/>
          </p:nvSpPr>
          <p:spPr>
            <a:xfrm>
              <a:off x="447638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g3b63aaf4e92_0_1"/>
            <p:cNvSpPr/>
            <p:nvPr/>
          </p:nvSpPr>
          <p:spPr>
            <a:xfrm>
              <a:off x="670311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g3b63aaf4e92_0_1"/>
            <p:cNvSpPr/>
            <p:nvPr/>
          </p:nvSpPr>
          <p:spPr>
            <a:xfrm>
              <a:off x="892992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g3b63aaf4e92_0_1"/>
          <p:cNvSpPr txBox="1"/>
          <p:nvPr/>
        </p:nvSpPr>
        <p:spPr>
          <a:xfrm rot="-5400000">
            <a:off x="14630439" y="5017138"/>
            <a:ext cx="5904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b="0" i="0" lang="es-CL" sz="2599" u="none" cap="none" strike="noStrike">
                <a:solidFill>
                  <a:srgbClr val="5E5E5E"/>
                </a:solidFill>
                <a:latin typeface="Bebas Neue"/>
                <a:ea typeface="Bebas Neue"/>
                <a:cs typeface="Bebas Neue"/>
                <a:sym typeface="Bebas Neue"/>
              </a:rPr>
              <a:t>2 0 2 </a:t>
            </a:r>
            <a:r>
              <a:rPr lang="es-CL" sz="2599">
                <a:solidFill>
                  <a:srgbClr val="5E5E5E"/>
                </a:solidFill>
                <a:latin typeface="Bebas Neue"/>
                <a:ea typeface="Bebas Neue"/>
                <a:cs typeface="Bebas Neue"/>
                <a:sym typeface="Bebas Neue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b63aaf4e92_0_1"/>
          <p:cNvSpPr txBox="1"/>
          <p:nvPr/>
        </p:nvSpPr>
        <p:spPr>
          <a:xfrm>
            <a:off x="1056400" y="5398405"/>
            <a:ext cx="15240000" cy="47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3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Claves:</a:t>
            </a:r>
            <a:endParaRPr b="0" i="0" sz="3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Calibri"/>
              <a:buChar char="●"/>
            </a:pPr>
            <a:r>
              <a:rPr lang="es-CL" sz="3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+5% vs AA en </a:t>
            </a:r>
            <a:r>
              <a:rPr lang="es-CL" sz="3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facturación</a:t>
            </a:r>
            <a:endParaRPr b="0" i="0" sz="3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Calibri"/>
              <a:buChar char="●"/>
            </a:pPr>
            <a:r>
              <a:rPr lang="es-CL" sz="3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Apalancado por aperturas</a:t>
            </a:r>
            <a:endParaRPr b="0" i="0" sz="3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Calibri"/>
              <a:buChar char="●"/>
            </a:pPr>
            <a:r>
              <a:rPr b="0" i="0" lang="es-CL" sz="3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Consumidor Chileno en búsqueda de opciones “económicas” de calidad.</a:t>
            </a:r>
            <a:endParaRPr b="0" i="0" sz="3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Calibri"/>
              <a:buChar char="●"/>
            </a:pPr>
            <a:r>
              <a:rPr b="0" i="0" lang="es-CL" sz="3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Bebidas Energéticas cumpliendo el rol de Bebidas Mainstream (consumidor las ha “normalizado”)</a:t>
            </a:r>
            <a:endParaRPr b="0" i="0" sz="3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t/>
            </a:r>
            <a:endParaRPr b="0" i="0" sz="3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g3b63aaf4e92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000" y="2265105"/>
            <a:ext cx="14180400" cy="2587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7a033a560_0_2"/>
          <p:cNvSpPr txBox="1"/>
          <p:nvPr/>
        </p:nvSpPr>
        <p:spPr>
          <a:xfrm>
            <a:off x="2133600" y="538275"/>
            <a:ext cx="12199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s-CL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1" lang="es-CL" sz="4500">
                <a:solidFill>
                  <a:schemeClr val="lt1"/>
                </a:solidFill>
              </a:rPr>
              <a:t>ULTADOS YTD (UN)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97a033a560_0_2"/>
          <p:cNvSpPr/>
          <p:nvPr/>
        </p:nvSpPr>
        <p:spPr>
          <a:xfrm>
            <a:off x="735101" y="323734"/>
            <a:ext cx="1135839" cy="1135839"/>
          </a:xfrm>
          <a:custGeom>
            <a:rect b="b" l="l" r="r" t="t"/>
            <a:pathLst>
              <a:path extrusionOk="0" h="1135839" w="1135839">
                <a:moveTo>
                  <a:pt x="0" y="0"/>
                </a:moveTo>
                <a:lnTo>
                  <a:pt x="1135839" y="0"/>
                </a:lnTo>
                <a:lnTo>
                  <a:pt x="1135839" y="1135839"/>
                </a:lnTo>
                <a:lnTo>
                  <a:pt x="0" y="11358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97a033a560_0_2"/>
          <p:cNvSpPr txBox="1"/>
          <p:nvPr/>
        </p:nvSpPr>
        <p:spPr>
          <a:xfrm>
            <a:off x="5338045" y="9370005"/>
            <a:ext cx="761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9"/>
              <a:buFont typeface="Arial"/>
              <a:buNone/>
            </a:pPr>
            <a:r>
              <a:rPr b="0" i="0" lang="es-CL" sz="2299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 C O R E   E N E R G Y   D R I N K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7" name="Google Shape;217;g397a033a560_0_2"/>
          <p:cNvGrpSpPr/>
          <p:nvPr/>
        </p:nvGrpSpPr>
        <p:grpSpPr>
          <a:xfrm>
            <a:off x="16580031" y="9126401"/>
            <a:ext cx="741182" cy="71438"/>
            <a:chOff x="0" y="0"/>
            <a:chExt cx="988242" cy="95250"/>
          </a:xfrm>
        </p:grpSpPr>
        <p:sp>
          <p:nvSpPr>
            <p:cNvPr id="218" name="Google Shape;218;g397a033a560_0_2"/>
            <p:cNvSpPr/>
            <p:nvPr/>
          </p:nvSpPr>
          <p:spPr>
            <a:xfrm>
              <a:off x="0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g397a033a560_0_2"/>
            <p:cNvSpPr/>
            <p:nvPr/>
          </p:nvSpPr>
          <p:spPr>
            <a:xfrm>
              <a:off x="225778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g397a033a560_0_2"/>
            <p:cNvSpPr/>
            <p:nvPr/>
          </p:nvSpPr>
          <p:spPr>
            <a:xfrm>
              <a:off x="447638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g397a033a560_0_2"/>
            <p:cNvSpPr/>
            <p:nvPr/>
          </p:nvSpPr>
          <p:spPr>
            <a:xfrm>
              <a:off x="670311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g397a033a560_0_2"/>
            <p:cNvSpPr/>
            <p:nvPr/>
          </p:nvSpPr>
          <p:spPr>
            <a:xfrm>
              <a:off x="892992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3" name="Google Shape;223;g397a033a560_0_2"/>
          <p:cNvSpPr txBox="1"/>
          <p:nvPr/>
        </p:nvSpPr>
        <p:spPr>
          <a:xfrm rot="-5400000">
            <a:off x="14630439" y="5017138"/>
            <a:ext cx="5904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b="0" i="0" lang="es-CL" sz="2599" u="none" cap="none" strike="noStrike">
                <a:solidFill>
                  <a:srgbClr val="5E5E5E"/>
                </a:solidFill>
                <a:latin typeface="Bebas Neue"/>
                <a:ea typeface="Bebas Neue"/>
                <a:cs typeface="Bebas Neue"/>
                <a:sym typeface="Bebas Neue"/>
              </a:rPr>
              <a:t>2 0 2 </a:t>
            </a:r>
            <a:r>
              <a:rPr lang="es-CL" sz="2599">
                <a:solidFill>
                  <a:srgbClr val="5E5E5E"/>
                </a:solidFill>
                <a:latin typeface="Bebas Neue"/>
                <a:ea typeface="Bebas Neue"/>
                <a:cs typeface="Bebas Neue"/>
                <a:sym typeface="Bebas Neue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97a033a560_0_2"/>
          <p:cNvSpPr txBox="1"/>
          <p:nvPr/>
        </p:nvSpPr>
        <p:spPr>
          <a:xfrm>
            <a:off x="1056400" y="5398405"/>
            <a:ext cx="15240000" cy="47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3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Claves:</a:t>
            </a:r>
            <a:endParaRPr b="0" i="0" sz="3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Calibri"/>
              <a:buChar char="●"/>
            </a:pPr>
            <a:r>
              <a:rPr lang="es-CL" sz="3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+5% vs AA en latas vendidas</a:t>
            </a:r>
            <a:endParaRPr b="0" i="0" sz="3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Calibri"/>
              <a:buChar char="●"/>
            </a:pPr>
            <a:r>
              <a:rPr lang="es-CL" sz="3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Apalancado por aperturas</a:t>
            </a:r>
            <a:endParaRPr b="0" i="0" sz="3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Calibri"/>
              <a:buChar char="●"/>
            </a:pPr>
            <a:r>
              <a:rPr b="0" i="0" lang="es-CL" sz="3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Consumidor Chileno en búsqueda de opciones “económicas” de calidad.</a:t>
            </a:r>
            <a:endParaRPr b="0" i="0" sz="3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Calibri"/>
              <a:buChar char="●"/>
            </a:pPr>
            <a:r>
              <a:rPr b="0" i="0" lang="es-CL" sz="3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Bebidas Energéticas cumpliendo el rol de Bebidas Mainstream (consumidor las ha “normalizado”)</a:t>
            </a:r>
            <a:endParaRPr b="0" i="0" sz="3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t/>
            </a:r>
            <a:endParaRPr b="0" i="0" sz="3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g397a033a560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200" y="1536776"/>
            <a:ext cx="14113445" cy="350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7a033a560_0_53"/>
          <p:cNvSpPr txBox="1"/>
          <p:nvPr/>
        </p:nvSpPr>
        <p:spPr>
          <a:xfrm>
            <a:off x="2133600" y="538275"/>
            <a:ext cx="12199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lang="es-CL" sz="4500">
                <a:solidFill>
                  <a:schemeClr val="lt1"/>
                </a:solidFill>
              </a:rPr>
              <a:t>PROYECCIONES 2026 (UN)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97a033a560_0_53"/>
          <p:cNvSpPr/>
          <p:nvPr/>
        </p:nvSpPr>
        <p:spPr>
          <a:xfrm>
            <a:off x="735101" y="323734"/>
            <a:ext cx="1135839" cy="1135839"/>
          </a:xfrm>
          <a:custGeom>
            <a:rect b="b" l="l" r="r" t="t"/>
            <a:pathLst>
              <a:path extrusionOk="0" h="1135839" w="1135839">
                <a:moveTo>
                  <a:pt x="0" y="0"/>
                </a:moveTo>
                <a:lnTo>
                  <a:pt x="1135839" y="0"/>
                </a:lnTo>
                <a:lnTo>
                  <a:pt x="1135839" y="1135839"/>
                </a:lnTo>
                <a:lnTo>
                  <a:pt x="0" y="11358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97a033a560_0_53"/>
          <p:cNvSpPr txBox="1"/>
          <p:nvPr/>
        </p:nvSpPr>
        <p:spPr>
          <a:xfrm>
            <a:off x="5338045" y="9370005"/>
            <a:ext cx="761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9"/>
              <a:buFont typeface="Arial"/>
              <a:buNone/>
            </a:pPr>
            <a:r>
              <a:rPr b="0" i="0" lang="es-CL" sz="2299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 C O R E   E N E R G Y   D R I N K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4" name="Google Shape;234;g397a033a560_0_53"/>
          <p:cNvGrpSpPr/>
          <p:nvPr/>
        </p:nvGrpSpPr>
        <p:grpSpPr>
          <a:xfrm>
            <a:off x="16580031" y="9126401"/>
            <a:ext cx="741182" cy="71438"/>
            <a:chOff x="0" y="0"/>
            <a:chExt cx="988242" cy="95250"/>
          </a:xfrm>
        </p:grpSpPr>
        <p:sp>
          <p:nvSpPr>
            <p:cNvPr id="235" name="Google Shape;235;g397a033a560_0_53"/>
            <p:cNvSpPr/>
            <p:nvPr/>
          </p:nvSpPr>
          <p:spPr>
            <a:xfrm>
              <a:off x="0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g397a033a560_0_53"/>
            <p:cNvSpPr/>
            <p:nvPr/>
          </p:nvSpPr>
          <p:spPr>
            <a:xfrm>
              <a:off x="225778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g397a033a560_0_53"/>
            <p:cNvSpPr/>
            <p:nvPr/>
          </p:nvSpPr>
          <p:spPr>
            <a:xfrm>
              <a:off x="447638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g397a033a560_0_53"/>
            <p:cNvSpPr/>
            <p:nvPr/>
          </p:nvSpPr>
          <p:spPr>
            <a:xfrm>
              <a:off x="670311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g397a033a560_0_53"/>
            <p:cNvSpPr/>
            <p:nvPr/>
          </p:nvSpPr>
          <p:spPr>
            <a:xfrm>
              <a:off x="892992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0" name="Google Shape;240;g397a033a560_0_53"/>
          <p:cNvSpPr txBox="1"/>
          <p:nvPr/>
        </p:nvSpPr>
        <p:spPr>
          <a:xfrm rot="-5400000">
            <a:off x="14630439" y="5017138"/>
            <a:ext cx="5904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b="0" i="0" lang="es-CL" sz="2599" u="none" cap="none" strike="noStrike">
                <a:solidFill>
                  <a:srgbClr val="5E5E5E"/>
                </a:solidFill>
                <a:latin typeface="Bebas Neue"/>
                <a:ea typeface="Bebas Neue"/>
                <a:cs typeface="Bebas Neue"/>
                <a:sym typeface="Bebas Neue"/>
              </a:rPr>
              <a:t>2 0 2 </a:t>
            </a:r>
            <a:r>
              <a:rPr lang="es-CL" sz="2599">
                <a:solidFill>
                  <a:srgbClr val="5E5E5E"/>
                </a:solidFill>
                <a:latin typeface="Bebas Neue"/>
                <a:ea typeface="Bebas Neue"/>
                <a:cs typeface="Bebas Neue"/>
                <a:sym typeface="Bebas Neue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97a033a560_0_53"/>
          <p:cNvSpPr txBox="1"/>
          <p:nvPr/>
        </p:nvSpPr>
        <p:spPr>
          <a:xfrm>
            <a:off x="1056400" y="5398405"/>
            <a:ext cx="152400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3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Claves:</a:t>
            </a:r>
            <a:endParaRPr b="0" i="0" sz="3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Calibri"/>
              <a:buChar char="●"/>
            </a:pPr>
            <a:r>
              <a:rPr lang="es-CL" sz="3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Crec. proyectado de un 28% vs AA</a:t>
            </a:r>
            <a:endParaRPr b="0" i="0" sz="3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Calibri"/>
              <a:buChar char="●"/>
            </a:pPr>
            <a:r>
              <a:rPr lang="es-CL" sz="3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Líderes</a:t>
            </a:r>
            <a:r>
              <a:rPr lang="es-CL" sz="3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s-CL" sz="3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categoría</a:t>
            </a:r>
            <a:endParaRPr b="0" i="0" sz="3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Calibri"/>
              <a:buChar char="●"/>
            </a:pPr>
            <a:r>
              <a:rPr lang="es-CL" sz="3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Foco seguir potenciando Alvi y la </a:t>
            </a:r>
            <a:r>
              <a:rPr lang="es-CL" sz="3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categoría</a:t>
            </a:r>
            <a:r>
              <a:rPr lang="es-CL" sz="3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3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t/>
            </a:r>
            <a:endParaRPr b="0" i="0" sz="3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g397a033a560_0_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3825" y="2058237"/>
            <a:ext cx="10628300" cy="251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15c3fefbf_0_19"/>
          <p:cNvSpPr txBox="1"/>
          <p:nvPr/>
        </p:nvSpPr>
        <p:spPr>
          <a:xfrm>
            <a:off x="2532700" y="545300"/>
            <a:ext cx="14577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lang="es-CL" sz="4500">
                <a:solidFill>
                  <a:schemeClr val="lt1"/>
                </a:solidFill>
              </a:rPr>
              <a:t>EFICIENCIA OPERACIONAL: DE POLONIA A CHILE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e15c3fefbf_0_19"/>
          <p:cNvSpPr/>
          <p:nvPr/>
        </p:nvSpPr>
        <p:spPr>
          <a:xfrm>
            <a:off x="735101" y="323734"/>
            <a:ext cx="1135839" cy="1135839"/>
          </a:xfrm>
          <a:custGeom>
            <a:rect b="b" l="l" r="r" t="t"/>
            <a:pathLst>
              <a:path extrusionOk="0" h="1135839" w="1135839">
                <a:moveTo>
                  <a:pt x="0" y="0"/>
                </a:moveTo>
                <a:lnTo>
                  <a:pt x="1135839" y="0"/>
                </a:lnTo>
                <a:lnTo>
                  <a:pt x="1135839" y="1135839"/>
                </a:lnTo>
                <a:lnTo>
                  <a:pt x="0" y="11358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e15c3fefbf_0_19"/>
          <p:cNvSpPr txBox="1"/>
          <p:nvPr/>
        </p:nvSpPr>
        <p:spPr>
          <a:xfrm>
            <a:off x="5338045" y="9370005"/>
            <a:ext cx="761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9"/>
              <a:buFont typeface="Arial"/>
              <a:buNone/>
            </a:pPr>
            <a:r>
              <a:rPr b="0" i="0" lang="es-CL" sz="2299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 C O R E   E N E R G Y   D R I N K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1" name="Google Shape;251;g3e15c3fefbf_0_19"/>
          <p:cNvGrpSpPr/>
          <p:nvPr/>
        </p:nvGrpSpPr>
        <p:grpSpPr>
          <a:xfrm>
            <a:off x="16580031" y="9126401"/>
            <a:ext cx="741182" cy="71438"/>
            <a:chOff x="0" y="0"/>
            <a:chExt cx="988242" cy="95250"/>
          </a:xfrm>
        </p:grpSpPr>
        <p:sp>
          <p:nvSpPr>
            <p:cNvPr id="252" name="Google Shape;252;g3e15c3fefbf_0_19"/>
            <p:cNvSpPr/>
            <p:nvPr/>
          </p:nvSpPr>
          <p:spPr>
            <a:xfrm>
              <a:off x="0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g3e15c3fefbf_0_19"/>
            <p:cNvSpPr/>
            <p:nvPr/>
          </p:nvSpPr>
          <p:spPr>
            <a:xfrm>
              <a:off x="225778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g3e15c3fefbf_0_19"/>
            <p:cNvSpPr/>
            <p:nvPr/>
          </p:nvSpPr>
          <p:spPr>
            <a:xfrm>
              <a:off x="447638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g3e15c3fefbf_0_19"/>
            <p:cNvSpPr/>
            <p:nvPr/>
          </p:nvSpPr>
          <p:spPr>
            <a:xfrm>
              <a:off x="670311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g3e15c3fefbf_0_19"/>
            <p:cNvSpPr/>
            <p:nvPr/>
          </p:nvSpPr>
          <p:spPr>
            <a:xfrm>
              <a:off x="892992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7" name="Google Shape;257;g3e15c3fefbf_0_19"/>
          <p:cNvSpPr txBox="1"/>
          <p:nvPr/>
        </p:nvSpPr>
        <p:spPr>
          <a:xfrm rot="-5400000">
            <a:off x="14630439" y="5017138"/>
            <a:ext cx="5904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b="0" i="0" lang="es-CL" sz="2599" u="none" cap="none" strike="noStrike">
                <a:solidFill>
                  <a:srgbClr val="5E5E5E"/>
                </a:solidFill>
                <a:latin typeface="Bebas Neue"/>
                <a:ea typeface="Bebas Neue"/>
                <a:cs typeface="Bebas Neue"/>
                <a:sym typeface="Bebas Neue"/>
              </a:rPr>
              <a:t>2 0 2 </a:t>
            </a:r>
            <a:r>
              <a:rPr lang="es-CL" sz="2599">
                <a:solidFill>
                  <a:srgbClr val="5E5E5E"/>
                </a:solidFill>
                <a:latin typeface="Bebas Neue"/>
                <a:ea typeface="Bebas Neue"/>
                <a:cs typeface="Bebas Neue"/>
                <a:sym typeface="Bebas Neue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g3e15c3fefbf_0_19" title="cd-score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1415" y="1303500"/>
            <a:ext cx="4365172" cy="7827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15e96ea9d_0_12"/>
          <p:cNvSpPr/>
          <p:nvPr/>
        </p:nvSpPr>
        <p:spPr>
          <a:xfrm>
            <a:off x="0" y="0"/>
            <a:ext cx="640200" cy="10287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e15e96ea9d_0_12"/>
          <p:cNvSpPr/>
          <p:nvPr/>
        </p:nvSpPr>
        <p:spPr>
          <a:xfrm>
            <a:off x="1463040" y="731520"/>
            <a:ext cx="15544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600"/>
              <a:buFont typeface="Arial"/>
              <a:buNone/>
            </a:pPr>
            <a:r>
              <a:rPr b="1" lang="es-CL" sz="2600">
                <a:solidFill>
                  <a:srgbClr val="FFCC00"/>
                </a:solidFill>
              </a:rPr>
              <a:t>EFICIENCIA OPERACIONAL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e15e96ea9d_0_12"/>
          <p:cNvSpPr/>
          <p:nvPr/>
        </p:nvSpPr>
        <p:spPr>
          <a:xfrm>
            <a:off x="1463040" y="1554480"/>
            <a:ext cx="155448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Calibri"/>
              <a:buNone/>
            </a:pPr>
            <a:r>
              <a:rPr b="1" i="0" lang="es-CL" sz="8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Polonia hasta Chile</a:t>
            </a:r>
            <a:endParaRPr b="0" i="0" sz="8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e15e96ea9d_0_12"/>
          <p:cNvSpPr/>
          <p:nvPr/>
        </p:nvSpPr>
        <p:spPr>
          <a:xfrm>
            <a:off x="3928900" y="3291850"/>
            <a:ext cx="9658800" cy="5566800"/>
          </a:xfrm>
          <a:prstGeom prst="rect">
            <a:avLst/>
          </a:prstGeom>
          <a:solidFill>
            <a:srgbClr val="1A1A1A"/>
          </a:solidFill>
          <a:ln cap="flat" cmpd="sng" w="76200">
            <a:solidFill>
              <a:srgbClr val="FFCC00"/>
            </a:solidFill>
            <a:prstDash val="solid"/>
            <a:round/>
            <a:headEnd len="sm" w="sm" type="none"/>
            <a:tailEnd len="sm" w="sm" type="none"/>
          </a:ln>
          <a:effectLst>
            <a:outerShdw blurRad="304800" rotWithShape="0" algn="bl" dir="5400000" dist="76200">
              <a:srgbClr val="000000">
                <a:alpha val="349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e15e96ea9d_0_12"/>
          <p:cNvSpPr/>
          <p:nvPr/>
        </p:nvSpPr>
        <p:spPr>
          <a:xfrm>
            <a:off x="8138160" y="5201660"/>
            <a:ext cx="2011800" cy="201180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e15e96ea9d_0_12"/>
          <p:cNvSpPr/>
          <p:nvPr/>
        </p:nvSpPr>
        <p:spPr>
          <a:xfrm>
            <a:off x="8138160" y="5201660"/>
            <a:ext cx="20118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0"/>
              <a:buFont typeface="Calibri"/>
              <a:buNone/>
            </a:pPr>
            <a:r>
              <a:rPr b="1" i="0" lang="es-CL" sz="8000" u="none" cap="none" strike="noStrik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e15e96ea9d_0_12"/>
          <p:cNvSpPr/>
          <p:nvPr/>
        </p:nvSpPr>
        <p:spPr>
          <a:xfrm>
            <a:off x="2743200" y="7853420"/>
            <a:ext cx="12801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200"/>
              <a:buFont typeface="Arial"/>
              <a:buNone/>
            </a:pPr>
            <a:r>
              <a:rPr b="1" i="0" lang="es-CL" sz="2200" u="none" cap="none" strike="noStrik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rPr>
              <a:t>INSERTAR VIDEO DE LA FÁBRICA AQUÍ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e15e96ea9d_0_12"/>
          <p:cNvSpPr/>
          <p:nvPr/>
        </p:nvSpPr>
        <p:spPr>
          <a:xfrm>
            <a:off x="1463040" y="9601200"/>
            <a:ext cx="155448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2200"/>
              <a:buFont typeface="Calibri"/>
              <a:buNone/>
            </a:pPr>
            <a:r>
              <a:rPr b="0" i="1" lang="es-CL" sz="2200" u="none" cap="none" strike="noStrike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Producido en Europa  ·  Importado a Chile  ·  Distribuido a todo el canal moderno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g3e15e96ea9d_0_12" title="WhatsApp Video 2026-05-12 at 10.24.27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7466" y="3423500"/>
            <a:ext cx="9401658" cy="530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15e96ea9d_0_0"/>
          <p:cNvSpPr/>
          <p:nvPr/>
        </p:nvSpPr>
        <p:spPr>
          <a:xfrm>
            <a:off x="0" y="0"/>
            <a:ext cx="640200" cy="10287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e15e96ea9d_0_0"/>
          <p:cNvSpPr/>
          <p:nvPr/>
        </p:nvSpPr>
        <p:spPr>
          <a:xfrm>
            <a:off x="1463040" y="731520"/>
            <a:ext cx="15544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600"/>
              <a:buFont typeface="Arial"/>
              <a:buNone/>
            </a:pPr>
            <a:r>
              <a:rPr b="1" i="0" lang="es-CL" sz="2600" u="none" cap="none" strike="noStrik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rPr>
              <a:t>OPERACI</a:t>
            </a:r>
            <a:r>
              <a:rPr b="1" lang="es-CL" sz="2600">
                <a:solidFill>
                  <a:srgbClr val="FFCC00"/>
                </a:solidFill>
              </a:rPr>
              <a:t>ÓN EN</a:t>
            </a:r>
            <a:r>
              <a:rPr b="1" i="0" lang="es-CL" sz="2600" u="none" cap="none" strike="noStrik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rPr>
              <a:t> CHILE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e15e96ea9d_0_0"/>
          <p:cNvSpPr/>
          <p:nvPr/>
        </p:nvSpPr>
        <p:spPr>
          <a:xfrm>
            <a:off x="1463040" y="1554480"/>
            <a:ext cx="15544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Calibri"/>
              <a:buNone/>
            </a:pPr>
            <a:r>
              <a:rPr b="1" lang="es-CL" sz="7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Operación en Chile</a:t>
            </a:r>
            <a:endParaRPr b="0" i="0" sz="7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g3e15e96ea9d_0_0" title="Apilado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6980" y="2926080"/>
            <a:ext cx="5063493" cy="6751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g3e15e96ea9d_0_0" title="Eficiencia Operativa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6050" y="2926100"/>
            <a:ext cx="9001800" cy="6751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15c3fefbf_0_48"/>
          <p:cNvSpPr txBox="1"/>
          <p:nvPr/>
        </p:nvSpPr>
        <p:spPr>
          <a:xfrm>
            <a:off x="2532700" y="545300"/>
            <a:ext cx="14577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lang="es-CL" sz="4500">
                <a:solidFill>
                  <a:schemeClr val="lt1"/>
                </a:solidFill>
              </a:rPr>
              <a:t>DOLOR OPERACION CON</a:t>
            </a:r>
            <a:r>
              <a:rPr b="1" lang="es-CL" sz="4500">
                <a:solidFill>
                  <a:schemeClr val="lt1"/>
                </a:solidFill>
              </a:rPr>
              <a:t> ALVI</a:t>
            </a:r>
            <a:r>
              <a:rPr b="1" lang="es-CL" sz="4500">
                <a:solidFill>
                  <a:schemeClr val="lt1"/>
                </a:solidFill>
              </a:rPr>
              <a:t>: </a:t>
            </a:r>
            <a:r>
              <a:rPr b="1" lang="es-CL" sz="4500">
                <a:solidFill>
                  <a:schemeClr val="lt1"/>
                </a:solidFill>
              </a:rPr>
              <a:t>MAQUILADO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e15c3fefbf_0_48"/>
          <p:cNvSpPr/>
          <p:nvPr/>
        </p:nvSpPr>
        <p:spPr>
          <a:xfrm>
            <a:off x="735101" y="323734"/>
            <a:ext cx="1135839" cy="1135839"/>
          </a:xfrm>
          <a:custGeom>
            <a:rect b="b" l="l" r="r" t="t"/>
            <a:pathLst>
              <a:path extrusionOk="0" h="1135839" w="1135839">
                <a:moveTo>
                  <a:pt x="0" y="0"/>
                </a:moveTo>
                <a:lnTo>
                  <a:pt x="1135839" y="0"/>
                </a:lnTo>
                <a:lnTo>
                  <a:pt x="1135839" y="1135839"/>
                </a:lnTo>
                <a:lnTo>
                  <a:pt x="0" y="11358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e15c3fefbf_0_48"/>
          <p:cNvSpPr txBox="1"/>
          <p:nvPr/>
        </p:nvSpPr>
        <p:spPr>
          <a:xfrm>
            <a:off x="5338045" y="9370005"/>
            <a:ext cx="761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9"/>
              <a:buFont typeface="Arial"/>
              <a:buNone/>
            </a:pPr>
            <a:r>
              <a:rPr b="0" i="0" lang="es-CL" sz="2299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 C O R E   E N E R G Y   D R I N K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1" name="Google Shape;291;g3e15c3fefbf_0_48"/>
          <p:cNvGrpSpPr/>
          <p:nvPr/>
        </p:nvGrpSpPr>
        <p:grpSpPr>
          <a:xfrm>
            <a:off x="16580031" y="9126401"/>
            <a:ext cx="741182" cy="71438"/>
            <a:chOff x="0" y="0"/>
            <a:chExt cx="988242" cy="95250"/>
          </a:xfrm>
        </p:grpSpPr>
        <p:sp>
          <p:nvSpPr>
            <p:cNvPr id="292" name="Google Shape;292;g3e15c3fefbf_0_48"/>
            <p:cNvSpPr/>
            <p:nvPr/>
          </p:nvSpPr>
          <p:spPr>
            <a:xfrm>
              <a:off x="0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g3e15c3fefbf_0_48"/>
            <p:cNvSpPr/>
            <p:nvPr/>
          </p:nvSpPr>
          <p:spPr>
            <a:xfrm>
              <a:off x="225778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g3e15c3fefbf_0_48"/>
            <p:cNvSpPr/>
            <p:nvPr/>
          </p:nvSpPr>
          <p:spPr>
            <a:xfrm>
              <a:off x="447638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g3e15c3fefbf_0_48"/>
            <p:cNvSpPr/>
            <p:nvPr/>
          </p:nvSpPr>
          <p:spPr>
            <a:xfrm>
              <a:off x="670311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g3e15c3fefbf_0_48"/>
            <p:cNvSpPr/>
            <p:nvPr/>
          </p:nvSpPr>
          <p:spPr>
            <a:xfrm>
              <a:off x="892992" y="0"/>
              <a:ext cx="95250" cy="9525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7" name="Google Shape;297;g3e15c3fefbf_0_48"/>
          <p:cNvSpPr txBox="1"/>
          <p:nvPr/>
        </p:nvSpPr>
        <p:spPr>
          <a:xfrm rot="-5400000">
            <a:off x="14630439" y="5017138"/>
            <a:ext cx="5904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b="0" i="0" lang="es-CL" sz="2599" u="none" cap="none" strike="noStrike">
                <a:solidFill>
                  <a:srgbClr val="5E5E5E"/>
                </a:solidFill>
                <a:latin typeface="Bebas Neue"/>
                <a:ea typeface="Bebas Neue"/>
                <a:cs typeface="Bebas Neue"/>
                <a:sym typeface="Bebas Neue"/>
              </a:rPr>
              <a:t>2 0 2 </a:t>
            </a:r>
            <a:r>
              <a:rPr lang="es-CL" sz="2599">
                <a:solidFill>
                  <a:srgbClr val="5E5E5E"/>
                </a:solidFill>
                <a:latin typeface="Bebas Neue"/>
                <a:ea typeface="Bebas Neue"/>
                <a:cs typeface="Bebas Neue"/>
                <a:sym typeface="Bebas Neue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g3e15c3fefbf_0_48" title="cd-score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1415" y="1390400"/>
            <a:ext cx="4365172" cy="7827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Nicolas Pumpin</dc:creator>
</cp:coreProperties>
</file>